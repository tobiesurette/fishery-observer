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8" r:id="rId4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AA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B21EB-AAFB-CCC2-1912-D27229BAA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12BCD-AEAB-CE99-837B-4BC30F15B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10F0A-20C5-96B1-17EB-836592289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F1045-0FA1-4C5D-92A7-8592389917A7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55F51-522D-860E-9BAB-34D5FBCCD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8C64C-7A4B-ADF6-7C0B-9CACED9F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61A25-54B8-4C6D-AC83-97F6C5F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93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CCF20-3CA6-E6AB-EB62-49DAB5FA0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9EC7B-3ECD-45A2-007E-02DC34381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F11DD-CAA6-7C84-3448-C030331CC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F1045-0FA1-4C5D-92A7-8592389917A7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83616-25C5-A0C6-12A2-CCC3CB44B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24876-26F0-53E9-0079-74C29C2F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61A25-54B8-4C6D-AC83-97F6C5F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43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01BAE-8B51-FFD6-9EE3-AEE82384C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72B72-7266-1F4C-BCA1-AC58CB6B7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29FF2-D5F0-247B-BEE4-73C4062F9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F1045-0FA1-4C5D-92A7-8592389917A7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6B95E-6FAC-59D1-B794-BED04BC77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CF46F-9B1E-EFFB-BC12-8B9681026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61A25-54B8-4C6D-AC83-97F6C5F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7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241A-3951-EA00-5E28-B99AE17F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9CDA4-9FDF-FC5D-652F-C6BEE36522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1F201-D5C2-DDA7-1A2E-97FAC2299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335D0-50D3-6DFB-9430-3B5652308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F1045-0FA1-4C5D-92A7-8592389917A7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A5900-543E-4A56-A25D-071823E3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002F2-EE25-1FF8-5AF2-4A61B2663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61A25-54B8-4C6D-AC83-97F6C5F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42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1799A-1A44-29A4-D3CC-1E44DCF9A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566D5-B81B-4352-FA39-F5DA140D6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DA2C7-CC15-D48D-771B-C4C34F8B1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B4FF6E-09C8-9BF0-B2EA-C2D9E844FE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7CE3C8-8378-B4CD-4CB9-A16BE60BB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676AAB-8456-4342-20D2-02C1AE2FF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F1045-0FA1-4C5D-92A7-8592389917A7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301787-EFD4-F317-8073-53D27AFEE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91631E-E99A-BB4F-93BE-E9F4E932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61A25-54B8-4C6D-AC83-97F6C5F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22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14513-8C24-C738-BF55-5456B24B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8FBD40-FAFE-DE68-DB3E-6C5988B66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F1045-0FA1-4C5D-92A7-8592389917A7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C54C6F-023A-600F-F4ED-0EFBCA868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6A052-A01E-1597-3083-DE6D9B9F1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61A25-54B8-4C6D-AC83-97F6C5F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930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A9019E-5897-E0D2-AF06-6FA4C668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F1045-0FA1-4C5D-92A7-8592389917A7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31DDAA-05FD-B525-49CF-0D44AE1F7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DFA04-15D1-A5C1-CD4C-051DAAE2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61A25-54B8-4C6D-AC83-97F6C5F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53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F5852-0227-C272-F611-4C517C9A0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FCBFC-AC01-C307-F197-16C1CD08D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B2C31-38AD-337A-8784-D81C58B93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E7E64-C87F-8A8D-D6EF-16EC5641F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F1045-0FA1-4C5D-92A7-8592389917A7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B6695-7808-8DFB-0E4B-A17370FD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5E8F9-6EA4-B6CA-EFFB-135C96786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61A25-54B8-4C6D-AC83-97F6C5F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46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15FAB-A682-8031-6EAD-95C7D2727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E13AE8-75A4-960C-298F-4C0DAC39FB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DE9A0-ABCA-37CB-2C96-2E2296653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A414E-82DD-8394-6E0D-0418B132C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F1045-0FA1-4C5D-92A7-8592389917A7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93554-945D-F19A-6AAD-8D9AC7F3E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28785-022F-81A9-947C-8F2D2CFCC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61A25-54B8-4C6D-AC83-97F6C5F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0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CD3D-C010-4DAD-46B8-5C458277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4528E-E129-49E7-57D6-05B7BFA9F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9A6C9-047D-C5F3-DC49-C4BDCF3F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F1045-0FA1-4C5D-92A7-8592389917A7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E9582-D9FE-2F2E-9CB0-313F08E5C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E8611-89A0-D4E1-D41E-49684E7D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61A25-54B8-4C6D-AC83-97F6C5F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10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B1BDAF-043A-2962-1CE1-030D4BA66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F1928-B339-DD19-391B-E2CFE2C38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99DAF-C3F6-69FF-E4D5-90964CE61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F1045-0FA1-4C5D-92A7-8592389917A7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FB9FE-2039-DC11-19CC-BA63D275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08361-E816-8126-5887-7DF3DFEF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61A25-54B8-4C6D-AC83-97F6C5F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83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D3A766-68F8-475A-FEE6-332B278FE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36975-CED7-A7A1-3C6C-50403A0D8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9EC27-3FD7-EDCF-11A5-45D119B619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F1045-0FA1-4C5D-92A7-8592389917A7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0D3F5-5729-A0AC-7B9A-522D21700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FEDEA-0BF9-D59B-E57D-07031015E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61A25-54B8-4C6D-AC83-97F6C5FE8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9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561B53CA-753C-BE50-042D-FADB8F52CAAB}"/>
              </a:ext>
            </a:extLst>
          </p:cNvPr>
          <p:cNvGrpSpPr/>
          <p:nvPr/>
        </p:nvGrpSpPr>
        <p:grpSpPr>
          <a:xfrm>
            <a:off x="1899346" y="341526"/>
            <a:ext cx="9120338" cy="5979614"/>
            <a:chOff x="1899346" y="341526"/>
            <a:chExt cx="9120338" cy="597961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45779E-C6C9-2C04-B605-25E4C9A8D1E9}"/>
                </a:ext>
              </a:extLst>
            </p:cNvPr>
            <p:cNvSpPr txBox="1"/>
            <p:nvPr/>
          </p:nvSpPr>
          <p:spPr>
            <a:xfrm>
              <a:off x="4643530" y="341526"/>
              <a:ext cx="1870392" cy="6463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/>
                <a:t>Couleur</a:t>
              </a:r>
            </a:p>
            <a:p>
              <a:pPr algn="ctr"/>
              <a:r>
                <a:rPr lang="fr-CA" b="1" dirty="0"/>
                <a:t>(surface ventrale)</a:t>
              </a:r>
              <a:endParaRPr lang="en-US" b="1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8E5EEC6-9755-0EE2-D976-FAAC8C8A3EC3}"/>
                </a:ext>
              </a:extLst>
            </p:cNvPr>
            <p:cNvCxnSpPr>
              <a:cxnSpLocks/>
              <a:stCxn id="8" idx="2"/>
              <a:endCxn id="17" idx="0"/>
            </p:cNvCxnSpPr>
            <p:nvPr/>
          </p:nvCxnSpPr>
          <p:spPr>
            <a:xfrm flipH="1">
              <a:off x="3443528" y="987857"/>
              <a:ext cx="2135198" cy="876485"/>
            </a:xfrm>
            <a:prstGeom prst="straightConnector1">
              <a:avLst/>
            </a:prstGeom>
            <a:ln w="15875">
              <a:solidFill>
                <a:schemeClr val="bg2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D103D3F-5897-9C41-6E43-7F6D1EC4C9A7}"/>
                </a:ext>
              </a:extLst>
            </p:cNvPr>
            <p:cNvCxnSpPr>
              <a:cxnSpLocks/>
              <a:stCxn id="8" idx="2"/>
              <a:endCxn id="5" idx="0"/>
            </p:cNvCxnSpPr>
            <p:nvPr/>
          </p:nvCxnSpPr>
          <p:spPr>
            <a:xfrm>
              <a:off x="5578726" y="987857"/>
              <a:ext cx="2241043" cy="861154"/>
            </a:xfrm>
            <a:prstGeom prst="straightConnector1">
              <a:avLst/>
            </a:prstGeom>
            <a:ln w="15875">
              <a:solidFill>
                <a:schemeClr val="bg2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797D1F-B1B8-3C9B-1F9C-39A5D52D2C32}"/>
                </a:ext>
              </a:extLst>
            </p:cNvPr>
            <p:cNvSpPr txBox="1"/>
            <p:nvPr/>
          </p:nvSpPr>
          <p:spPr>
            <a:xfrm>
              <a:off x="3588987" y="1063384"/>
              <a:ext cx="1077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b="1" i="1" dirty="0"/>
                <a:t>Blanc</a:t>
              </a:r>
              <a:r>
                <a:rPr lang="en-US" sz="1200" i="1" dirty="0"/>
                <a:t> </a:t>
              </a:r>
              <a:r>
                <a:rPr lang="en-US" sz="1200" i="1" dirty="0" err="1"/>
                <a:t>ou</a:t>
              </a:r>
              <a:r>
                <a:rPr lang="en-US" sz="1200" i="1" dirty="0"/>
                <a:t> très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9F30DFA-37A2-825E-828F-39D30F35FE94}"/>
                </a:ext>
              </a:extLst>
            </p:cNvPr>
            <p:cNvSpPr txBox="1"/>
            <p:nvPr/>
          </p:nvSpPr>
          <p:spPr>
            <a:xfrm>
              <a:off x="6571929" y="1104285"/>
              <a:ext cx="142935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CA" sz="1200" b="1" i="1" dirty="0"/>
                <a:t>Beige-jaune</a:t>
              </a:r>
              <a:r>
                <a:rPr lang="fr-CA" sz="1200" i="1" dirty="0"/>
                <a:t> ou </a:t>
              </a:r>
            </a:p>
            <a:p>
              <a:r>
                <a:rPr lang="fr-CA" sz="1200" i="1" dirty="0"/>
                <a:t>         </a:t>
              </a:r>
              <a:r>
                <a:rPr lang="fr-CA" sz="1200" b="1" i="1" dirty="0"/>
                <a:t>brun</a:t>
              </a:r>
              <a:r>
                <a:rPr lang="fr-CA" sz="1200" i="1" dirty="0"/>
                <a:t> partout</a:t>
              </a:r>
              <a:endParaRPr lang="en-US" sz="1200" i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5C87289-7823-F7E1-9794-7609D463882D}"/>
                </a:ext>
              </a:extLst>
            </p:cNvPr>
            <p:cNvSpPr txBox="1"/>
            <p:nvPr/>
          </p:nvSpPr>
          <p:spPr>
            <a:xfrm>
              <a:off x="2819513" y="1864342"/>
              <a:ext cx="1248030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/>
                <a:t>Dureté</a:t>
              </a:r>
              <a:endParaRPr lang="en-US" b="1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524B05A-CBB6-DFF9-86E7-C1A19D9A97AB}"/>
                </a:ext>
              </a:extLst>
            </p:cNvPr>
            <p:cNvCxnSpPr>
              <a:cxnSpLocks/>
              <a:stCxn id="17" idx="2"/>
              <a:endCxn id="3" idx="0"/>
            </p:cNvCxnSpPr>
            <p:nvPr/>
          </p:nvCxnSpPr>
          <p:spPr>
            <a:xfrm flipH="1">
              <a:off x="2635672" y="2233674"/>
              <a:ext cx="807856" cy="834747"/>
            </a:xfrm>
            <a:prstGeom prst="straightConnector1">
              <a:avLst/>
            </a:prstGeom>
            <a:ln w="15875">
              <a:solidFill>
                <a:schemeClr val="bg2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914F632-83E8-2314-0293-0CD7E1B59742}"/>
                </a:ext>
              </a:extLst>
            </p:cNvPr>
            <p:cNvSpPr txBox="1"/>
            <p:nvPr/>
          </p:nvSpPr>
          <p:spPr>
            <a:xfrm>
              <a:off x="2031962" y="2504430"/>
              <a:ext cx="101501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i="1" dirty="0" err="1"/>
                <a:t>Pince</a:t>
              </a:r>
              <a:r>
                <a:rPr lang="en-US" sz="1200" i="1" dirty="0"/>
                <a:t> </a:t>
              </a:r>
              <a:r>
                <a:rPr lang="en-US" sz="1200" b="1" i="1" dirty="0"/>
                <a:t>molle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0F286F1-EF08-15B5-C503-D6FA552796DC}"/>
                </a:ext>
              </a:extLst>
            </p:cNvPr>
            <p:cNvCxnSpPr>
              <a:cxnSpLocks/>
              <a:stCxn id="17" idx="2"/>
              <a:endCxn id="4" idx="0"/>
            </p:cNvCxnSpPr>
            <p:nvPr/>
          </p:nvCxnSpPr>
          <p:spPr>
            <a:xfrm>
              <a:off x="3443528" y="2233674"/>
              <a:ext cx="762112" cy="825219"/>
            </a:xfrm>
            <a:prstGeom prst="straightConnector1">
              <a:avLst/>
            </a:prstGeom>
            <a:ln w="15875">
              <a:solidFill>
                <a:schemeClr val="bg2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0C6B205-9FC9-06B0-C764-F7C14218ED06}"/>
                </a:ext>
              </a:extLst>
            </p:cNvPr>
            <p:cNvSpPr txBox="1"/>
            <p:nvPr/>
          </p:nvSpPr>
          <p:spPr>
            <a:xfrm>
              <a:off x="3740338" y="2340747"/>
              <a:ext cx="129392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 err="1"/>
                <a:t>Pince</a:t>
              </a:r>
              <a:r>
                <a:rPr lang="en-US" sz="1200" i="1" dirty="0"/>
                <a:t> plus </a:t>
              </a:r>
              <a:r>
                <a:rPr lang="en-US" sz="1200" b="1" i="1" dirty="0"/>
                <a:t>dure</a:t>
              </a:r>
              <a:r>
                <a:rPr lang="en-US" sz="1200" i="1" dirty="0"/>
                <a:t> </a:t>
              </a:r>
            </a:p>
            <a:p>
              <a:r>
                <a:rPr lang="en-US" sz="1200" i="1" dirty="0"/>
                <a:t>    </a:t>
              </a:r>
              <a:r>
                <a:rPr lang="en-US" sz="1200" i="1" dirty="0" err="1"/>
                <a:t>mais</a:t>
              </a:r>
              <a:r>
                <a:rPr lang="en-US" sz="1200" i="1" dirty="0"/>
                <a:t> </a:t>
              </a:r>
              <a:r>
                <a:rPr lang="en-US" sz="1200" b="1" i="1" dirty="0" err="1"/>
                <a:t>cassable</a:t>
              </a:r>
              <a:endParaRPr lang="en-US" sz="1200" b="1" i="1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259639A-4A90-38D1-6451-E32FB165284B}"/>
                </a:ext>
              </a:extLst>
            </p:cNvPr>
            <p:cNvSpPr txBox="1"/>
            <p:nvPr/>
          </p:nvSpPr>
          <p:spPr>
            <a:xfrm>
              <a:off x="2291586" y="3068421"/>
              <a:ext cx="688172" cy="4616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400" b="1" dirty="0"/>
                <a:t>1</a:t>
              </a:r>
              <a:endParaRPr lang="en-US" sz="24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70BDA20-0DD8-2760-1AFC-9D16C2CC5DDB}"/>
                </a:ext>
              </a:extLst>
            </p:cNvPr>
            <p:cNvSpPr txBox="1"/>
            <p:nvPr/>
          </p:nvSpPr>
          <p:spPr>
            <a:xfrm>
              <a:off x="3861554" y="3058893"/>
              <a:ext cx="688172" cy="4616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400" b="1" dirty="0"/>
                <a:t>2</a:t>
              </a:r>
              <a:endParaRPr lang="en-US" sz="2400" b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E162109-72C7-6EC4-96A7-5D7FE22C8812}"/>
                </a:ext>
              </a:extLst>
            </p:cNvPr>
            <p:cNvSpPr txBox="1"/>
            <p:nvPr/>
          </p:nvSpPr>
          <p:spPr>
            <a:xfrm>
              <a:off x="7195754" y="1849011"/>
              <a:ext cx="1248030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/>
                <a:t>Propreté</a:t>
              </a:r>
              <a:endParaRPr lang="en-US" b="1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985C685-106E-9FE9-B042-3A7140D7E835}"/>
                </a:ext>
              </a:extLst>
            </p:cNvPr>
            <p:cNvCxnSpPr>
              <a:cxnSpLocks/>
              <a:stCxn id="5" idx="2"/>
              <a:endCxn id="39" idx="0"/>
            </p:cNvCxnSpPr>
            <p:nvPr/>
          </p:nvCxnSpPr>
          <p:spPr>
            <a:xfrm flipH="1">
              <a:off x="6731733" y="2218343"/>
              <a:ext cx="1088036" cy="861763"/>
            </a:xfrm>
            <a:prstGeom prst="straightConnector1">
              <a:avLst/>
            </a:prstGeom>
            <a:ln w="15875">
              <a:solidFill>
                <a:schemeClr val="bg2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67BA063-3138-C891-53AD-CE37E6DD20BB}"/>
                </a:ext>
              </a:extLst>
            </p:cNvPr>
            <p:cNvSpPr txBox="1"/>
            <p:nvPr/>
          </p:nvSpPr>
          <p:spPr>
            <a:xfrm>
              <a:off x="5377471" y="2319764"/>
              <a:ext cx="18982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b="1" i="1" dirty="0"/>
                <a:t>Propre</a:t>
              </a:r>
              <a:r>
                <a:rPr lang="en-US" sz="1200" i="1" dirty="0"/>
                <a:t> </a:t>
              </a:r>
              <a:r>
                <a:rPr lang="en-US" sz="1200" i="1" dirty="0" err="1"/>
                <a:t>ou</a:t>
              </a:r>
              <a:r>
                <a:rPr lang="en-US" sz="1200" i="1" dirty="0"/>
                <a:t> </a:t>
              </a:r>
              <a:r>
                <a:rPr lang="en-US" sz="1200" i="1" dirty="0" err="1"/>
                <a:t>légèrement</a:t>
              </a:r>
              <a:r>
                <a:rPr lang="en-US" sz="1200" i="1" dirty="0"/>
                <a:t>     </a:t>
              </a:r>
            </a:p>
            <a:p>
              <a:pPr algn="r"/>
              <a:r>
                <a:rPr lang="en-US" sz="1200" i="1" dirty="0"/>
                <a:t> </a:t>
              </a:r>
              <a:r>
                <a:rPr lang="en-US" sz="1200" i="1" dirty="0" err="1"/>
                <a:t>mousseux</a:t>
              </a:r>
              <a:r>
                <a:rPr lang="en-US" sz="1200" i="1" dirty="0"/>
                <a:t> / </a:t>
              </a:r>
              <a:r>
                <a:rPr lang="en-US" sz="1200" b="1" i="1" dirty="0" err="1"/>
                <a:t>pince</a:t>
              </a:r>
              <a:r>
                <a:rPr lang="en-US" sz="1200" b="1" i="1" dirty="0"/>
                <a:t> dure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058BDD5-8D0E-AF00-0005-B8251277755F}"/>
                </a:ext>
              </a:extLst>
            </p:cNvPr>
            <p:cNvSpPr txBox="1"/>
            <p:nvPr/>
          </p:nvSpPr>
          <p:spPr>
            <a:xfrm>
              <a:off x="6387647" y="3080106"/>
              <a:ext cx="688172" cy="46166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400" b="1" dirty="0"/>
                <a:t>3</a:t>
              </a:r>
              <a:endParaRPr lang="en-US" sz="2400" b="1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9ACC6C8-7870-4BF9-BEB6-F4186394070F}"/>
                </a:ext>
              </a:extLst>
            </p:cNvPr>
            <p:cNvCxnSpPr>
              <a:cxnSpLocks/>
              <a:stCxn id="5" idx="2"/>
              <a:endCxn id="46" idx="0"/>
            </p:cNvCxnSpPr>
            <p:nvPr/>
          </p:nvCxnSpPr>
          <p:spPr>
            <a:xfrm>
              <a:off x="7819769" y="2218343"/>
              <a:ext cx="1261536" cy="940269"/>
            </a:xfrm>
            <a:prstGeom prst="straightConnector1">
              <a:avLst/>
            </a:prstGeom>
            <a:ln w="15875">
              <a:solidFill>
                <a:schemeClr val="bg2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DAB9D47-8192-C049-DEE4-1EF69C4089B4}"/>
                </a:ext>
              </a:extLst>
            </p:cNvPr>
            <p:cNvSpPr txBox="1"/>
            <p:nvPr/>
          </p:nvSpPr>
          <p:spPr>
            <a:xfrm>
              <a:off x="8377127" y="2370805"/>
              <a:ext cx="142471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i="1" dirty="0"/>
                <a:t>Sale</a:t>
              </a:r>
              <a:r>
                <a:rPr lang="en-US" sz="1200" i="1" dirty="0"/>
                <a:t> et </a:t>
              </a:r>
            </a:p>
            <a:p>
              <a:r>
                <a:rPr lang="en-US" sz="1200" b="1" i="1" dirty="0"/>
                <a:t>       </a:t>
              </a:r>
              <a:r>
                <a:rPr lang="en-US" sz="1200" b="1" i="1" dirty="0" err="1"/>
                <a:t>mousseux</a:t>
              </a:r>
              <a:endParaRPr lang="en-US" sz="1200" b="1" i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3907F51-8121-EF91-ACFE-8006A972F95E}"/>
                </a:ext>
              </a:extLst>
            </p:cNvPr>
            <p:cNvSpPr txBox="1"/>
            <p:nvPr/>
          </p:nvSpPr>
          <p:spPr>
            <a:xfrm>
              <a:off x="8220345" y="3158612"/>
              <a:ext cx="1721919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/>
                <a:t>Dureté / santé</a:t>
              </a:r>
              <a:endParaRPr lang="en-US" b="1" dirty="0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69A54DB-D8FF-B856-29E9-923D28059768}"/>
                </a:ext>
              </a:extLst>
            </p:cNvPr>
            <p:cNvCxnSpPr>
              <a:cxnSpLocks/>
              <a:stCxn id="46" idx="2"/>
              <a:endCxn id="54" idx="0"/>
            </p:cNvCxnSpPr>
            <p:nvPr/>
          </p:nvCxnSpPr>
          <p:spPr>
            <a:xfrm flipH="1">
              <a:off x="8335283" y="3527944"/>
              <a:ext cx="746022" cy="1011877"/>
            </a:xfrm>
            <a:prstGeom prst="straightConnector1">
              <a:avLst/>
            </a:prstGeom>
            <a:ln w="15875">
              <a:solidFill>
                <a:schemeClr val="bg2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CE64478-88A3-6D5F-E855-F7256351FE0D}"/>
                </a:ext>
              </a:extLst>
            </p:cNvPr>
            <p:cNvSpPr txBox="1"/>
            <p:nvPr/>
          </p:nvSpPr>
          <p:spPr>
            <a:xfrm>
              <a:off x="9260728" y="3567347"/>
              <a:ext cx="175895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 err="1"/>
                <a:t>Pince</a:t>
              </a:r>
              <a:r>
                <a:rPr lang="en-US" sz="1200" i="1" dirty="0"/>
                <a:t> </a:t>
              </a:r>
              <a:r>
                <a:rPr lang="en-US" sz="1200" b="1" i="1" dirty="0" err="1"/>
                <a:t>parfois</a:t>
              </a:r>
              <a:r>
                <a:rPr lang="en-US" sz="1200" b="1" i="1" dirty="0"/>
                <a:t> molle </a:t>
              </a:r>
              <a:endParaRPr lang="en-US" sz="1200" i="1" dirty="0"/>
            </a:p>
            <a:p>
              <a:r>
                <a:rPr lang="en-US" sz="1200" i="1" dirty="0"/>
                <a:t>     Jointures </a:t>
              </a:r>
              <a:r>
                <a:rPr lang="en-US" sz="1200" b="1" i="1" dirty="0" err="1"/>
                <a:t>noircies</a:t>
              </a:r>
              <a:endParaRPr lang="en-US" sz="1200" i="1" dirty="0"/>
            </a:p>
            <a:p>
              <a:r>
                <a:rPr lang="en-US" sz="1200" i="1" dirty="0"/>
                <a:t>          </a:t>
              </a:r>
              <a:r>
                <a:rPr lang="en-US" sz="1200" i="1" dirty="0" err="1"/>
                <a:t>Crabe</a:t>
              </a:r>
              <a:r>
                <a:rPr lang="en-US" sz="1200" i="1" dirty="0"/>
                <a:t> </a:t>
              </a:r>
              <a:r>
                <a:rPr lang="en-US" sz="1200" b="1" i="1" dirty="0" err="1"/>
                <a:t>magané</a:t>
              </a:r>
              <a:endParaRPr lang="en-US" sz="1200" b="1" i="1" dirty="0"/>
            </a:p>
            <a:p>
              <a:r>
                <a:rPr lang="en-US" sz="1200" b="1" i="1" dirty="0"/>
                <a:t>               </a:t>
              </a:r>
              <a:r>
                <a:rPr lang="en-US" sz="1200" i="1" dirty="0"/>
                <a:t>Couleur </a:t>
              </a:r>
              <a:r>
                <a:rPr lang="en-US" sz="1200" b="1" i="1" dirty="0" err="1"/>
                <a:t>brune</a:t>
              </a:r>
              <a:endParaRPr lang="en-US" sz="1200" b="1" i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420FC23-81E2-61B9-5F99-61574E8721D6}"/>
                </a:ext>
              </a:extLst>
            </p:cNvPr>
            <p:cNvSpPr txBox="1"/>
            <p:nvPr/>
          </p:nvSpPr>
          <p:spPr>
            <a:xfrm>
              <a:off x="7459117" y="3555614"/>
              <a:ext cx="149388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i="1" dirty="0" err="1"/>
                <a:t>Pince</a:t>
              </a:r>
              <a:r>
                <a:rPr lang="en-US" sz="1200" i="1" dirty="0"/>
                <a:t> </a:t>
              </a:r>
              <a:r>
                <a:rPr lang="en-US" sz="1200" b="1" i="1" dirty="0"/>
                <a:t>dure 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D33ED4C-86A3-B65A-3AA7-689D92038163}"/>
                </a:ext>
              </a:extLst>
            </p:cNvPr>
            <p:cNvSpPr txBox="1"/>
            <p:nvPr/>
          </p:nvSpPr>
          <p:spPr>
            <a:xfrm>
              <a:off x="7991197" y="4539821"/>
              <a:ext cx="688172" cy="46166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400" b="1" dirty="0"/>
                <a:t>4</a:t>
              </a:r>
              <a:endParaRPr lang="en-US" sz="24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06C1637-3F31-F972-F9BA-8232816AA43D}"/>
                </a:ext>
              </a:extLst>
            </p:cNvPr>
            <p:cNvSpPr txBox="1"/>
            <p:nvPr/>
          </p:nvSpPr>
          <p:spPr>
            <a:xfrm>
              <a:off x="9582928" y="4539821"/>
              <a:ext cx="688172" cy="46166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400" b="1" dirty="0"/>
                <a:t>5</a:t>
              </a:r>
              <a:endParaRPr lang="en-US" sz="2400" b="1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BB81E84-4C97-5103-8CA8-A245247604A1}"/>
                </a:ext>
              </a:extLst>
            </p:cNvPr>
            <p:cNvCxnSpPr>
              <a:cxnSpLocks/>
              <a:stCxn id="46" idx="2"/>
              <a:endCxn id="56" idx="0"/>
            </p:cNvCxnSpPr>
            <p:nvPr/>
          </p:nvCxnSpPr>
          <p:spPr>
            <a:xfrm>
              <a:off x="9081305" y="3527944"/>
              <a:ext cx="845709" cy="1011877"/>
            </a:xfrm>
            <a:prstGeom prst="straightConnector1">
              <a:avLst/>
            </a:prstGeom>
            <a:ln w="15875">
              <a:solidFill>
                <a:schemeClr val="bg2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" name="Image 2" descr="Une image contenant invertébré, fruit de mer, crustacé, crabe&#10;&#10;Description générée automatiquement">
              <a:extLst>
                <a:ext uri="{FF2B5EF4-FFF2-40B4-BE49-F238E27FC236}">
                  <a16:creationId xmlns:a16="http://schemas.microsoft.com/office/drawing/2014/main" id="{DA87D0C9-BA0E-CDA3-2A13-EF4C2549ED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3" r="17129"/>
            <a:stretch/>
          </p:blipFill>
          <p:spPr bwMode="auto">
            <a:xfrm>
              <a:off x="1899346" y="3602727"/>
              <a:ext cx="1501256" cy="92385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6" name="Image 3">
              <a:extLst>
                <a:ext uri="{FF2B5EF4-FFF2-40B4-BE49-F238E27FC236}">
                  <a16:creationId xmlns:a16="http://schemas.microsoft.com/office/drawing/2014/main" id="{B35B5E4C-C9F9-279C-9898-BB181A189DAF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24" r="1959"/>
            <a:stretch/>
          </p:blipFill>
          <p:spPr bwMode="auto">
            <a:xfrm>
              <a:off x="3481381" y="3588692"/>
              <a:ext cx="1501256" cy="92385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7" name="Image 20" descr="Une image contenant invertébré, fruit de mer, crustacé, crabe&#10;&#10;Description générée automatiquement">
              <a:extLst>
                <a:ext uri="{FF2B5EF4-FFF2-40B4-BE49-F238E27FC236}">
                  <a16:creationId xmlns:a16="http://schemas.microsoft.com/office/drawing/2014/main" id="{11F8C554-C5D3-62C0-5AD4-3F2243990983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49" t="9822" r="11855" b="13756"/>
            <a:stretch/>
          </p:blipFill>
          <p:spPr bwMode="auto">
            <a:xfrm>
              <a:off x="6019776" y="3593199"/>
              <a:ext cx="1501256" cy="92385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C144EC3-ACB2-8D5D-E289-DCAA9FD963D6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47" t="8634" r="18489" b="26737"/>
            <a:stretch/>
          </p:blipFill>
          <p:spPr bwMode="auto">
            <a:xfrm>
              <a:off x="7596330" y="5052913"/>
              <a:ext cx="1501256" cy="92385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55B3EFE-7477-839C-108D-FB8DFBC18781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13" t="2994" r="14499" b="33159"/>
            <a:stretch/>
          </p:blipFill>
          <p:spPr bwMode="auto">
            <a:xfrm>
              <a:off x="9176386" y="5052914"/>
              <a:ext cx="1501256" cy="92385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2FBA2CB-B5FC-AB00-E197-BC3FEBF2313B}"/>
                </a:ext>
              </a:extLst>
            </p:cNvPr>
            <p:cNvSpPr txBox="1"/>
            <p:nvPr/>
          </p:nvSpPr>
          <p:spPr>
            <a:xfrm>
              <a:off x="2759334" y="4568477"/>
              <a:ext cx="13683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sz="1400" i="1" dirty="0"/>
                <a:t>Mues de l’année</a:t>
              </a:r>
              <a:endParaRPr lang="en-US" sz="1400" i="1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7FE500B-8DBA-6C0D-D724-E5FBDF910A82}"/>
                </a:ext>
              </a:extLst>
            </p:cNvPr>
            <p:cNvSpPr txBox="1"/>
            <p:nvPr/>
          </p:nvSpPr>
          <p:spPr>
            <a:xfrm>
              <a:off x="6017824" y="4568477"/>
              <a:ext cx="14870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sz="1400" i="1" dirty="0"/>
                <a:t>Mue de l’an passé</a:t>
              </a:r>
              <a:endParaRPr lang="en-US" sz="1400" i="1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328292E-11F7-682E-4D4C-B1B7BA7C74E7}"/>
                </a:ext>
              </a:extLst>
            </p:cNvPr>
            <p:cNvSpPr txBox="1"/>
            <p:nvPr/>
          </p:nvSpPr>
          <p:spPr>
            <a:xfrm>
              <a:off x="7998018" y="6013363"/>
              <a:ext cx="23567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sz="1400" i="1" dirty="0"/>
                <a:t>Mues des années précédentes</a:t>
              </a:r>
              <a:endParaRPr lang="en-US" sz="1400" i="1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9F6083B-4931-42D3-235B-877DE6E04334}"/>
                </a:ext>
              </a:extLst>
            </p:cNvPr>
            <p:cNvSpPr txBox="1"/>
            <p:nvPr/>
          </p:nvSpPr>
          <p:spPr>
            <a:xfrm>
              <a:off x="7286607" y="3752587"/>
              <a:ext cx="149388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b="1" i="1" dirty="0" err="1"/>
                <a:t>Mousseux</a:t>
              </a:r>
              <a:endParaRPr lang="en-US" sz="1200" b="1" i="1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E3B3E15-93BE-F0EB-A60F-7582FB58E6B6}"/>
                </a:ext>
              </a:extLst>
            </p:cNvPr>
            <p:cNvSpPr txBox="1"/>
            <p:nvPr/>
          </p:nvSpPr>
          <p:spPr>
            <a:xfrm>
              <a:off x="7139782" y="3950659"/>
              <a:ext cx="149388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i="1" dirty="0" err="1"/>
                <a:t>Crabe</a:t>
              </a:r>
              <a:r>
                <a:rPr lang="en-US" sz="1200" b="1" i="1" dirty="0"/>
                <a:t> </a:t>
              </a:r>
              <a:r>
                <a:rPr lang="en-US" sz="1200" b="1" i="1" dirty="0" err="1"/>
                <a:t>en</a:t>
              </a:r>
              <a:r>
                <a:rPr lang="en-US" sz="1200" b="1" i="1" dirty="0"/>
                <a:t> </a:t>
              </a:r>
              <a:r>
                <a:rPr lang="en-US" sz="1200" b="1" i="1" dirty="0" err="1"/>
                <a:t>santé</a:t>
              </a:r>
              <a:endParaRPr lang="en-US" sz="1200" b="1" i="1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333293C-2B1E-201D-8F75-EBBF7841CECB}"/>
                </a:ext>
              </a:extLst>
            </p:cNvPr>
            <p:cNvSpPr txBox="1"/>
            <p:nvPr/>
          </p:nvSpPr>
          <p:spPr>
            <a:xfrm>
              <a:off x="6992957" y="4134043"/>
              <a:ext cx="149388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b="1" i="1" dirty="0"/>
                <a:t>jaune </a:t>
              </a:r>
              <a:r>
                <a:rPr lang="en-US" sz="1200" b="1" i="1" dirty="0" err="1"/>
                <a:t>foncé</a:t>
              </a:r>
              <a:r>
                <a:rPr lang="en-US" sz="1200" b="1" i="1" dirty="0"/>
                <a:t> 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8FE23A8-A4D9-0D03-3602-FC2C0DB31630}"/>
                </a:ext>
              </a:extLst>
            </p:cNvPr>
            <p:cNvSpPr txBox="1"/>
            <p:nvPr/>
          </p:nvSpPr>
          <p:spPr>
            <a:xfrm>
              <a:off x="3400602" y="1240671"/>
              <a:ext cx="1077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i="1" dirty="0"/>
                <a:t>peu de jaune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5336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561B53CA-753C-BE50-042D-FADB8F52CAAB}"/>
              </a:ext>
            </a:extLst>
          </p:cNvPr>
          <p:cNvGrpSpPr/>
          <p:nvPr/>
        </p:nvGrpSpPr>
        <p:grpSpPr>
          <a:xfrm>
            <a:off x="1778576" y="332899"/>
            <a:ext cx="9357630" cy="5979614"/>
            <a:chOff x="1899346" y="341526"/>
            <a:chExt cx="9357630" cy="597961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45779E-C6C9-2C04-B605-25E4C9A8D1E9}"/>
                </a:ext>
              </a:extLst>
            </p:cNvPr>
            <p:cNvSpPr txBox="1"/>
            <p:nvPr/>
          </p:nvSpPr>
          <p:spPr>
            <a:xfrm>
              <a:off x="4643530" y="341526"/>
              <a:ext cx="1870392" cy="6463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 err="1"/>
                <a:t>Colour</a:t>
              </a:r>
              <a:endParaRPr lang="fr-CA" b="1" dirty="0"/>
            </a:p>
            <a:p>
              <a:pPr algn="ctr"/>
              <a:r>
                <a:rPr lang="fr-CA" b="1" dirty="0"/>
                <a:t>(ventral surface)</a:t>
              </a:r>
              <a:endParaRPr lang="en-US" b="1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8E5EEC6-9755-0EE2-D976-FAAC8C8A3EC3}"/>
                </a:ext>
              </a:extLst>
            </p:cNvPr>
            <p:cNvCxnSpPr>
              <a:cxnSpLocks/>
              <a:stCxn id="8" idx="2"/>
              <a:endCxn id="17" idx="0"/>
            </p:cNvCxnSpPr>
            <p:nvPr/>
          </p:nvCxnSpPr>
          <p:spPr>
            <a:xfrm flipH="1">
              <a:off x="3443528" y="987857"/>
              <a:ext cx="2135198" cy="876485"/>
            </a:xfrm>
            <a:prstGeom prst="straightConnector1">
              <a:avLst/>
            </a:prstGeom>
            <a:ln w="15875">
              <a:solidFill>
                <a:schemeClr val="bg2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D103D3F-5897-9C41-6E43-7F6D1EC4C9A7}"/>
                </a:ext>
              </a:extLst>
            </p:cNvPr>
            <p:cNvCxnSpPr>
              <a:cxnSpLocks/>
              <a:stCxn id="8" idx="2"/>
              <a:endCxn id="5" idx="0"/>
            </p:cNvCxnSpPr>
            <p:nvPr/>
          </p:nvCxnSpPr>
          <p:spPr>
            <a:xfrm>
              <a:off x="5578726" y="987857"/>
              <a:ext cx="2241043" cy="861154"/>
            </a:xfrm>
            <a:prstGeom prst="straightConnector1">
              <a:avLst/>
            </a:prstGeom>
            <a:ln w="15875">
              <a:solidFill>
                <a:schemeClr val="bg2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797D1F-B1B8-3C9B-1F9C-39A5D52D2C32}"/>
                </a:ext>
              </a:extLst>
            </p:cNvPr>
            <p:cNvSpPr txBox="1"/>
            <p:nvPr/>
          </p:nvSpPr>
          <p:spPr>
            <a:xfrm>
              <a:off x="3588987" y="1063384"/>
              <a:ext cx="1077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b="1" i="1" dirty="0"/>
                <a:t>White</a:t>
              </a:r>
              <a:r>
                <a:rPr lang="en-US" sz="1200" i="1" dirty="0"/>
                <a:t> or very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9F30DFA-37A2-825E-828F-39D30F35FE94}"/>
                </a:ext>
              </a:extLst>
            </p:cNvPr>
            <p:cNvSpPr txBox="1"/>
            <p:nvPr/>
          </p:nvSpPr>
          <p:spPr>
            <a:xfrm>
              <a:off x="6571928" y="1104285"/>
              <a:ext cx="187185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CA" sz="1200" i="1" dirty="0" err="1"/>
                <a:t>Generally</a:t>
              </a:r>
              <a:r>
                <a:rPr lang="fr-CA" sz="1200" b="1" i="1" dirty="0"/>
                <a:t> beige, </a:t>
              </a:r>
              <a:endParaRPr lang="fr-CA" sz="1200" i="1" dirty="0"/>
            </a:p>
            <a:p>
              <a:r>
                <a:rPr lang="fr-CA" sz="1200" i="1" dirty="0"/>
                <a:t>           </a:t>
              </a:r>
              <a:r>
                <a:rPr lang="fr-CA" sz="1200" b="1" i="1" dirty="0" err="1"/>
                <a:t>yellow</a:t>
              </a:r>
              <a:r>
                <a:rPr lang="fr-CA" sz="1200" i="1" dirty="0"/>
                <a:t> or </a:t>
              </a:r>
              <a:r>
                <a:rPr lang="fr-CA" sz="1200" b="1" i="1" dirty="0" err="1"/>
                <a:t>brown</a:t>
              </a:r>
              <a:endParaRPr lang="en-US" sz="1200" i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5C87289-7823-F7E1-9794-7609D463882D}"/>
                </a:ext>
              </a:extLst>
            </p:cNvPr>
            <p:cNvSpPr txBox="1"/>
            <p:nvPr/>
          </p:nvSpPr>
          <p:spPr>
            <a:xfrm>
              <a:off x="2819513" y="1864342"/>
              <a:ext cx="1248030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 err="1"/>
                <a:t>Hardness</a:t>
              </a:r>
              <a:endParaRPr lang="en-US" b="1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524B05A-CBB6-DFF9-86E7-C1A19D9A97AB}"/>
                </a:ext>
              </a:extLst>
            </p:cNvPr>
            <p:cNvCxnSpPr>
              <a:cxnSpLocks/>
              <a:stCxn id="17" idx="2"/>
              <a:endCxn id="3" idx="0"/>
            </p:cNvCxnSpPr>
            <p:nvPr/>
          </p:nvCxnSpPr>
          <p:spPr>
            <a:xfrm flipH="1">
              <a:off x="2635672" y="2233674"/>
              <a:ext cx="807856" cy="834747"/>
            </a:xfrm>
            <a:prstGeom prst="straightConnector1">
              <a:avLst/>
            </a:prstGeom>
            <a:ln w="15875">
              <a:solidFill>
                <a:schemeClr val="bg2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914F632-83E8-2314-0293-0CD7E1B59742}"/>
                </a:ext>
              </a:extLst>
            </p:cNvPr>
            <p:cNvSpPr txBox="1"/>
            <p:nvPr/>
          </p:nvSpPr>
          <p:spPr>
            <a:xfrm>
              <a:off x="2031962" y="2504430"/>
              <a:ext cx="101501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b="1" i="1" dirty="0"/>
                <a:t>Soft</a:t>
              </a:r>
              <a:r>
                <a:rPr lang="en-US" sz="1200" i="1" dirty="0"/>
                <a:t> claw</a:t>
              </a:r>
              <a:endParaRPr lang="en-US" sz="1200" b="1" i="1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0F286F1-EF08-15B5-C503-D6FA552796DC}"/>
                </a:ext>
              </a:extLst>
            </p:cNvPr>
            <p:cNvCxnSpPr>
              <a:cxnSpLocks/>
              <a:stCxn id="17" idx="2"/>
              <a:endCxn id="4" idx="0"/>
            </p:cNvCxnSpPr>
            <p:nvPr/>
          </p:nvCxnSpPr>
          <p:spPr>
            <a:xfrm>
              <a:off x="3443528" y="2233674"/>
              <a:ext cx="762112" cy="825219"/>
            </a:xfrm>
            <a:prstGeom prst="straightConnector1">
              <a:avLst/>
            </a:prstGeom>
            <a:ln w="15875">
              <a:solidFill>
                <a:schemeClr val="bg2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0C6B205-9FC9-06B0-C764-F7C14218ED06}"/>
                </a:ext>
              </a:extLst>
            </p:cNvPr>
            <p:cNvSpPr txBox="1"/>
            <p:nvPr/>
          </p:nvSpPr>
          <p:spPr>
            <a:xfrm>
              <a:off x="3740337" y="2340747"/>
              <a:ext cx="163713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i="1" dirty="0"/>
                <a:t>Harder</a:t>
              </a:r>
              <a:r>
                <a:rPr lang="en-US" sz="1200" i="1" dirty="0"/>
                <a:t> claw,</a:t>
              </a:r>
            </a:p>
            <a:p>
              <a:r>
                <a:rPr lang="en-US" sz="1200" i="1" dirty="0"/>
                <a:t>    but </a:t>
              </a:r>
              <a:r>
                <a:rPr lang="en-US" sz="1200" b="1" i="1" dirty="0"/>
                <a:t>breakable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259639A-4A90-38D1-6451-E32FB165284B}"/>
                </a:ext>
              </a:extLst>
            </p:cNvPr>
            <p:cNvSpPr txBox="1"/>
            <p:nvPr/>
          </p:nvSpPr>
          <p:spPr>
            <a:xfrm>
              <a:off x="2291586" y="3068421"/>
              <a:ext cx="688172" cy="4616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400" b="1" dirty="0"/>
                <a:t>1</a:t>
              </a:r>
              <a:endParaRPr lang="en-US" sz="24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70BDA20-0DD8-2760-1AFC-9D16C2CC5DDB}"/>
                </a:ext>
              </a:extLst>
            </p:cNvPr>
            <p:cNvSpPr txBox="1"/>
            <p:nvPr/>
          </p:nvSpPr>
          <p:spPr>
            <a:xfrm>
              <a:off x="3861554" y="3058893"/>
              <a:ext cx="688172" cy="4616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400" b="1" dirty="0"/>
                <a:t>2</a:t>
              </a:r>
              <a:endParaRPr lang="en-US" sz="2400" b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E162109-72C7-6EC4-96A7-5D7FE22C8812}"/>
                </a:ext>
              </a:extLst>
            </p:cNvPr>
            <p:cNvSpPr txBox="1"/>
            <p:nvPr/>
          </p:nvSpPr>
          <p:spPr>
            <a:xfrm>
              <a:off x="7195754" y="1849011"/>
              <a:ext cx="1248030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 err="1"/>
                <a:t>Cleanliness</a:t>
              </a:r>
              <a:endParaRPr lang="en-US" b="1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985C685-106E-9FE9-B042-3A7140D7E835}"/>
                </a:ext>
              </a:extLst>
            </p:cNvPr>
            <p:cNvCxnSpPr>
              <a:cxnSpLocks/>
              <a:stCxn id="5" idx="2"/>
              <a:endCxn id="39" idx="0"/>
            </p:cNvCxnSpPr>
            <p:nvPr/>
          </p:nvCxnSpPr>
          <p:spPr>
            <a:xfrm flipH="1">
              <a:off x="6731733" y="2218343"/>
              <a:ext cx="1088036" cy="861763"/>
            </a:xfrm>
            <a:prstGeom prst="straightConnector1">
              <a:avLst/>
            </a:prstGeom>
            <a:ln w="15875">
              <a:solidFill>
                <a:schemeClr val="bg2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67BA063-3138-C891-53AD-CE37E6DD20BB}"/>
                </a:ext>
              </a:extLst>
            </p:cNvPr>
            <p:cNvSpPr txBox="1"/>
            <p:nvPr/>
          </p:nvSpPr>
          <p:spPr>
            <a:xfrm>
              <a:off x="5377471" y="2319764"/>
              <a:ext cx="18982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b="1" i="1" dirty="0"/>
                <a:t>Clean</a:t>
              </a:r>
              <a:r>
                <a:rPr lang="en-US" sz="1200" i="1" dirty="0"/>
                <a:t> or slightly</a:t>
              </a:r>
            </a:p>
            <a:p>
              <a:pPr algn="r"/>
              <a:r>
                <a:rPr lang="en-US" sz="1200" i="1" dirty="0"/>
                <a:t> mossy / </a:t>
              </a:r>
              <a:r>
                <a:rPr lang="en-US" sz="1200" b="1" i="1" dirty="0"/>
                <a:t>hard </a:t>
              </a:r>
              <a:r>
                <a:rPr lang="en-US" sz="1200" i="1" dirty="0"/>
                <a:t>claws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058BDD5-8D0E-AF00-0005-B8251277755F}"/>
                </a:ext>
              </a:extLst>
            </p:cNvPr>
            <p:cNvSpPr txBox="1"/>
            <p:nvPr/>
          </p:nvSpPr>
          <p:spPr>
            <a:xfrm>
              <a:off x="6387647" y="3080106"/>
              <a:ext cx="688172" cy="46166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400" b="1" dirty="0"/>
                <a:t>3</a:t>
              </a:r>
              <a:endParaRPr lang="en-US" sz="2400" b="1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9ACC6C8-7870-4BF9-BEB6-F4186394070F}"/>
                </a:ext>
              </a:extLst>
            </p:cNvPr>
            <p:cNvCxnSpPr>
              <a:cxnSpLocks/>
              <a:stCxn id="5" idx="2"/>
              <a:endCxn id="46" idx="0"/>
            </p:cNvCxnSpPr>
            <p:nvPr/>
          </p:nvCxnSpPr>
          <p:spPr>
            <a:xfrm>
              <a:off x="7819769" y="2218343"/>
              <a:ext cx="1277817" cy="897592"/>
            </a:xfrm>
            <a:prstGeom prst="straightConnector1">
              <a:avLst/>
            </a:prstGeom>
            <a:ln w="15875">
              <a:solidFill>
                <a:schemeClr val="bg2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DAB9D47-8192-C049-DEE4-1EF69C4089B4}"/>
                </a:ext>
              </a:extLst>
            </p:cNvPr>
            <p:cNvSpPr txBox="1"/>
            <p:nvPr/>
          </p:nvSpPr>
          <p:spPr>
            <a:xfrm>
              <a:off x="8377127" y="2370805"/>
              <a:ext cx="142471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i="1" dirty="0"/>
                <a:t>Dirty</a:t>
              </a:r>
              <a:r>
                <a:rPr lang="en-US" sz="1200" i="1" dirty="0"/>
                <a:t> and </a:t>
              </a:r>
            </a:p>
            <a:p>
              <a:r>
                <a:rPr lang="en-US" sz="1200" b="1" i="1" dirty="0"/>
                <a:t>       mossy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3907F51-8121-EF91-ACFE-8006A972F95E}"/>
                </a:ext>
              </a:extLst>
            </p:cNvPr>
            <p:cNvSpPr txBox="1"/>
            <p:nvPr/>
          </p:nvSpPr>
          <p:spPr>
            <a:xfrm>
              <a:off x="8137655" y="3115935"/>
              <a:ext cx="1919861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 err="1"/>
                <a:t>Hardness</a:t>
              </a:r>
              <a:r>
                <a:rPr lang="fr-CA" b="1" dirty="0"/>
                <a:t> / </a:t>
              </a:r>
              <a:r>
                <a:rPr lang="fr-CA" b="1" dirty="0" err="1"/>
                <a:t>Health</a:t>
              </a:r>
              <a:endParaRPr lang="en-US" b="1" dirty="0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69A54DB-D8FF-B856-29E9-923D28059768}"/>
                </a:ext>
              </a:extLst>
            </p:cNvPr>
            <p:cNvCxnSpPr>
              <a:cxnSpLocks/>
              <a:stCxn id="46" idx="2"/>
              <a:endCxn id="54" idx="0"/>
            </p:cNvCxnSpPr>
            <p:nvPr/>
          </p:nvCxnSpPr>
          <p:spPr>
            <a:xfrm flipH="1">
              <a:off x="8335283" y="3485267"/>
              <a:ext cx="762303" cy="1054554"/>
            </a:xfrm>
            <a:prstGeom prst="straightConnector1">
              <a:avLst/>
            </a:prstGeom>
            <a:ln w="15875">
              <a:solidFill>
                <a:schemeClr val="bg2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CE64478-88A3-6D5F-E855-F7256351FE0D}"/>
                </a:ext>
              </a:extLst>
            </p:cNvPr>
            <p:cNvSpPr txBox="1"/>
            <p:nvPr/>
          </p:nvSpPr>
          <p:spPr>
            <a:xfrm>
              <a:off x="9260728" y="3567347"/>
              <a:ext cx="199624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/>
                <a:t>Claw </a:t>
              </a:r>
              <a:r>
                <a:rPr lang="en-US" sz="1200" b="1" i="1" dirty="0"/>
                <a:t>sometimes soft</a:t>
              </a:r>
              <a:endParaRPr lang="en-US" sz="1200" i="1" dirty="0"/>
            </a:p>
            <a:p>
              <a:r>
                <a:rPr lang="en-US" sz="1200" i="1" dirty="0"/>
                <a:t>     </a:t>
              </a:r>
              <a:r>
                <a:rPr lang="en-US" sz="1200" b="1" i="1" dirty="0"/>
                <a:t>Blackened</a:t>
              </a:r>
              <a:r>
                <a:rPr lang="en-US" sz="1200" i="1" dirty="0"/>
                <a:t> joints / scars   </a:t>
              </a:r>
            </a:p>
            <a:p>
              <a:r>
                <a:rPr lang="en-US" sz="1200" i="1" dirty="0"/>
                <a:t>          </a:t>
              </a:r>
              <a:r>
                <a:rPr lang="en-US" sz="1200" b="1" i="1" dirty="0"/>
                <a:t>Old-looking</a:t>
              </a:r>
              <a:r>
                <a:rPr lang="en-US" sz="1200" i="1" dirty="0"/>
                <a:t> crab</a:t>
              </a:r>
              <a:endParaRPr lang="en-US" sz="1200" b="1" i="1" dirty="0"/>
            </a:p>
            <a:p>
              <a:r>
                <a:rPr lang="en-US" sz="1200" b="1" i="1" dirty="0"/>
                <a:t>               Brown</a:t>
              </a:r>
              <a:r>
                <a:rPr lang="en-US" sz="1200" i="1" dirty="0"/>
                <a:t> color</a:t>
              </a:r>
              <a:endParaRPr lang="en-US" sz="1200" b="1" i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420FC23-81E2-61B9-5F99-61574E8721D6}"/>
                </a:ext>
              </a:extLst>
            </p:cNvPr>
            <p:cNvSpPr txBox="1"/>
            <p:nvPr/>
          </p:nvSpPr>
          <p:spPr>
            <a:xfrm>
              <a:off x="7459117" y="3555614"/>
              <a:ext cx="149388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b="1" i="1" dirty="0"/>
                <a:t>Hard</a:t>
              </a:r>
              <a:r>
                <a:rPr lang="en-US" sz="1200" i="1" dirty="0"/>
                <a:t> claws</a:t>
              </a:r>
              <a:endParaRPr lang="en-US" sz="1200" b="1" i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D33ED4C-86A3-B65A-3AA7-689D92038163}"/>
                </a:ext>
              </a:extLst>
            </p:cNvPr>
            <p:cNvSpPr txBox="1"/>
            <p:nvPr/>
          </p:nvSpPr>
          <p:spPr>
            <a:xfrm>
              <a:off x="7991197" y="4539821"/>
              <a:ext cx="688172" cy="46166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400" b="1" dirty="0"/>
                <a:t>4</a:t>
              </a:r>
              <a:endParaRPr lang="en-US" sz="24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06C1637-3F31-F972-F9BA-8232816AA43D}"/>
                </a:ext>
              </a:extLst>
            </p:cNvPr>
            <p:cNvSpPr txBox="1"/>
            <p:nvPr/>
          </p:nvSpPr>
          <p:spPr>
            <a:xfrm>
              <a:off x="9582928" y="4539821"/>
              <a:ext cx="688172" cy="46166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400" b="1" dirty="0"/>
                <a:t>5</a:t>
              </a:r>
              <a:endParaRPr lang="en-US" sz="2400" b="1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BB81E84-4C97-5103-8CA8-A245247604A1}"/>
                </a:ext>
              </a:extLst>
            </p:cNvPr>
            <p:cNvCxnSpPr>
              <a:cxnSpLocks/>
              <a:stCxn id="46" idx="2"/>
              <a:endCxn id="56" idx="0"/>
            </p:cNvCxnSpPr>
            <p:nvPr/>
          </p:nvCxnSpPr>
          <p:spPr>
            <a:xfrm>
              <a:off x="9097586" y="3485267"/>
              <a:ext cx="829428" cy="1054554"/>
            </a:xfrm>
            <a:prstGeom prst="straightConnector1">
              <a:avLst/>
            </a:prstGeom>
            <a:ln w="15875">
              <a:solidFill>
                <a:schemeClr val="bg2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" name="Image 2" descr="Une image contenant invertébré, fruit de mer, crustacé, crabe&#10;&#10;Description générée automatiquement">
              <a:extLst>
                <a:ext uri="{FF2B5EF4-FFF2-40B4-BE49-F238E27FC236}">
                  <a16:creationId xmlns:a16="http://schemas.microsoft.com/office/drawing/2014/main" id="{DA87D0C9-BA0E-CDA3-2A13-EF4C2549ED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3" r="17129"/>
            <a:stretch/>
          </p:blipFill>
          <p:spPr bwMode="auto">
            <a:xfrm>
              <a:off x="1899346" y="3602727"/>
              <a:ext cx="1501256" cy="92385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6" name="Image 3">
              <a:extLst>
                <a:ext uri="{FF2B5EF4-FFF2-40B4-BE49-F238E27FC236}">
                  <a16:creationId xmlns:a16="http://schemas.microsoft.com/office/drawing/2014/main" id="{B35B5E4C-C9F9-279C-9898-BB181A189DAF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24" r="1959"/>
            <a:stretch/>
          </p:blipFill>
          <p:spPr bwMode="auto">
            <a:xfrm>
              <a:off x="3481381" y="3588692"/>
              <a:ext cx="1501256" cy="92385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7" name="Image 20" descr="Une image contenant invertébré, fruit de mer, crustacé, crabe&#10;&#10;Description générée automatiquement">
              <a:extLst>
                <a:ext uri="{FF2B5EF4-FFF2-40B4-BE49-F238E27FC236}">
                  <a16:creationId xmlns:a16="http://schemas.microsoft.com/office/drawing/2014/main" id="{11F8C554-C5D3-62C0-5AD4-3F2243990983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49" t="9822" r="11855" b="13756"/>
            <a:stretch/>
          </p:blipFill>
          <p:spPr bwMode="auto">
            <a:xfrm>
              <a:off x="6019776" y="3593199"/>
              <a:ext cx="1501256" cy="92385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C144EC3-ACB2-8D5D-E289-DCAA9FD963D6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47" t="8634" r="18489" b="26737"/>
            <a:stretch/>
          </p:blipFill>
          <p:spPr bwMode="auto">
            <a:xfrm>
              <a:off x="7596330" y="5052913"/>
              <a:ext cx="1501256" cy="92385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55B3EFE-7477-839C-108D-FB8DFBC18781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13" t="2994" r="14499" b="33159"/>
            <a:stretch/>
          </p:blipFill>
          <p:spPr bwMode="auto">
            <a:xfrm>
              <a:off x="9176386" y="5052914"/>
              <a:ext cx="1501256" cy="92385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2FBA2CB-B5FC-AB00-E197-BC3FEBF2313B}"/>
                </a:ext>
              </a:extLst>
            </p:cNvPr>
            <p:cNvSpPr txBox="1"/>
            <p:nvPr/>
          </p:nvSpPr>
          <p:spPr>
            <a:xfrm>
              <a:off x="2220683" y="4548500"/>
              <a:ext cx="25213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sz="1400" i="1" dirty="0" err="1"/>
                <a:t>Moulted</a:t>
              </a:r>
              <a:r>
                <a:rPr lang="fr-CA" sz="1400" i="1" dirty="0"/>
                <a:t> </a:t>
              </a:r>
              <a:r>
                <a:rPr lang="fr-CA" sz="1400" i="1" dirty="0" err="1"/>
                <a:t>during</a:t>
              </a:r>
              <a:r>
                <a:rPr lang="fr-CA" sz="1400" i="1" dirty="0"/>
                <a:t> the </a:t>
              </a:r>
              <a:r>
                <a:rPr lang="fr-CA" sz="1400" i="1" dirty="0" err="1"/>
                <a:t>current</a:t>
              </a:r>
              <a:r>
                <a:rPr lang="fr-CA" sz="1400" i="1" dirty="0"/>
                <a:t> </a:t>
              </a:r>
              <a:r>
                <a:rPr lang="fr-CA" sz="1400" i="1" dirty="0" err="1"/>
                <a:t>year</a:t>
              </a:r>
              <a:endParaRPr lang="en-US" sz="1400" i="1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7FE500B-8DBA-6C0D-D724-E5FBDF910A82}"/>
                </a:ext>
              </a:extLst>
            </p:cNvPr>
            <p:cNvSpPr txBox="1"/>
            <p:nvPr/>
          </p:nvSpPr>
          <p:spPr>
            <a:xfrm>
              <a:off x="6017824" y="4568477"/>
              <a:ext cx="14647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sz="1400" i="1" dirty="0" err="1"/>
                <a:t>Moulted</a:t>
              </a:r>
              <a:r>
                <a:rPr lang="fr-CA" sz="1400" i="1" dirty="0"/>
                <a:t> last </a:t>
              </a:r>
              <a:r>
                <a:rPr lang="fr-CA" sz="1400" i="1" dirty="0" err="1"/>
                <a:t>year</a:t>
              </a:r>
              <a:endParaRPr lang="en-US" sz="1400" i="1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328292E-11F7-682E-4D4C-B1B7BA7C74E7}"/>
                </a:ext>
              </a:extLst>
            </p:cNvPr>
            <p:cNvSpPr txBox="1"/>
            <p:nvPr/>
          </p:nvSpPr>
          <p:spPr>
            <a:xfrm>
              <a:off x="7998018" y="6013363"/>
              <a:ext cx="20603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sz="1400" i="1" dirty="0" err="1"/>
                <a:t>Moulted</a:t>
              </a:r>
              <a:r>
                <a:rPr lang="fr-CA" sz="1400" i="1" dirty="0"/>
                <a:t> in </a:t>
              </a:r>
              <a:r>
                <a:rPr lang="fr-CA" sz="1400" i="1" dirty="0" err="1"/>
                <a:t>previous</a:t>
              </a:r>
              <a:r>
                <a:rPr lang="fr-CA" sz="1400" i="1" dirty="0"/>
                <a:t> </a:t>
              </a:r>
              <a:r>
                <a:rPr lang="fr-CA" sz="1400" i="1" dirty="0" err="1"/>
                <a:t>years</a:t>
              </a:r>
              <a:endParaRPr lang="en-US" sz="1400" i="1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9F6083B-4931-42D3-235B-877DE6E04334}"/>
                </a:ext>
              </a:extLst>
            </p:cNvPr>
            <p:cNvSpPr txBox="1"/>
            <p:nvPr/>
          </p:nvSpPr>
          <p:spPr>
            <a:xfrm>
              <a:off x="7286607" y="3752587"/>
              <a:ext cx="149388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b="1" i="1" dirty="0"/>
                <a:t>Mossy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E3B3E15-93BE-F0EB-A60F-7582FB58E6B6}"/>
                </a:ext>
              </a:extLst>
            </p:cNvPr>
            <p:cNvSpPr txBox="1"/>
            <p:nvPr/>
          </p:nvSpPr>
          <p:spPr>
            <a:xfrm>
              <a:off x="7139782" y="3950659"/>
              <a:ext cx="149388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b="1" i="1" dirty="0"/>
                <a:t>Healthy</a:t>
              </a:r>
              <a:r>
                <a:rPr lang="en-US" sz="1200" i="1" dirty="0"/>
                <a:t> crab</a:t>
              </a:r>
              <a:endParaRPr lang="en-US" sz="1200" b="1" i="1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333293C-2B1E-201D-8F75-EBBF7841CECB}"/>
                </a:ext>
              </a:extLst>
            </p:cNvPr>
            <p:cNvSpPr txBox="1"/>
            <p:nvPr/>
          </p:nvSpPr>
          <p:spPr>
            <a:xfrm>
              <a:off x="6992957" y="4134043"/>
              <a:ext cx="149388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b="1" i="1" dirty="0"/>
                <a:t>Dark yellow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8FE23A8-A4D9-0D03-3602-FC2C0DB31630}"/>
                </a:ext>
              </a:extLst>
            </p:cNvPr>
            <p:cNvSpPr txBox="1"/>
            <p:nvPr/>
          </p:nvSpPr>
          <p:spPr>
            <a:xfrm>
              <a:off x="3400602" y="1240671"/>
              <a:ext cx="1077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i="1" dirty="0"/>
                <a:t>little yellow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9378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D9BF628-B264-7FD5-D2E6-C65D72AAF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648274"/>
              </p:ext>
            </p:extLst>
          </p:nvPr>
        </p:nvGraphicFramePr>
        <p:xfrm>
          <a:off x="374283" y="5018491"/>
          <a:ext cx="6561976" cy="161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056">
                  <a:extLst>
                    <a:ext uri="{9D8B030D-6E8A-4147-A177-3AD203B41FA5}">
                      <a16:colId xmlns:a16="http://schemas.microsoft.com/office/drawing/2014/main" val="1222521287"/>
                    </a:ext>
                  </a:extLst>
                </a:gridCol>
                <a:gridCol w="1902386">
                  <a:extLst>
                    <a:ext uri="{9D8B030D-6E8A-4147-A177-3AD203B41FA5}">
                      <a16:colId xmlns:a16="http://schemas.microsoft.com/office/drawing/2014/main" val="3480867666"/>
                    </a:ext>
                  </a:extLst>
                </a:gridCol>
                <a:gridCol w="1089472">
                  <a:extLst>
                    <a:ext uri="{9D8B030D-6E8A-4147-A177-3AD203B41FA5}">
                      <a16:colId xmlns:a16="http://schemas.microsoft.com/office/drawing/2014/main" val="3658661562"/>
                    </a:ext>
                  </a:extLst>
                </a:gridCol>
                <a:gridCol w="1424695">
                  <a:extLst>
                    <a:ext uri="{9D8B030D-6E8A-4147-A177-3AD203B41FA5}">
                      <a16:colId xmlns:a16="http://schemas.microsoft.com/office/drawing/2014/main" val="727222059"/>
                    </a:ext>
                  </a:extLst>
                </a:gridCol>
                <a:gridCol w="1307367">
                  <a:extLst>
                    <a:ext uri="{9D8B030D-6E8A-4147-A177-3AD203B41FA5}">
                      <a16:colId xmlns:a16="http://schemas.microsoft.com/office/drawing/2014/main" val="3594596333"/>
                    </a:ext>
                  </a:extLst>
                </a:gridCol>
              </a:tblGrid>
              <a:tr h="269568">
                <a:tc>
                  <a:txBody>
                    <a:bodyPr/>
                    <a:lstStyle/>
                    <a:p>
                      <a:r>
                        <a:rPr lang="fr-CA" sz="1100" dirty="0"/>
                        <a:t>Condition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dirty="0"/>
                        <a:t>Propreté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dirty="0"/>
                        <a:t>Dureté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dirty="0"/>
                        <a:t>Couleur ventrale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dirty="0"/>
                        <a:t>Usure/Cicatrice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589190"/>
                  </a:ext>
                </a:extLst>
              </a:tr>
              <a:tr h="269568">
                <a:tc>
                  <a:txBody>
                    <a:bodyPr/>
                    <a:lstStyle/>
                    <a:p>
                      <a:pPr algn="ctr"/>
                      <a:r>
                        <a:rPr lang="fr-CA" sz="1100" dirty="0"/>
                        <a:t>1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propre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molle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blanche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non</a:t>
                      </a:r>
                      <a:endParaRPr lang="en-US" sz="11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776337"/>
                  </a:ext>
                </a:extLst>
              </a:tr>
              <a:tr h="269568">
                <a:tc>
                  <a:txBody>
                    <a:bodyPr/>
                    <a:lstStyle/>
                    <a:p>
                      <a:pPr algn="ctr"/>
                      <a:r>
                        <a:rPr lang="fr-CA" sz="1100" dirty="0"/>
                        <a:t>2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propre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Pince flexible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blanc / peu jaune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non</a:t>
                      </a:r>
                      <a:endParaRPr lang="en-US" sz="11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806894"/>
                  </a:ext>
                </a:extLst>
              </a:tr>
              <a:tr h="269568">
                <a:tc>
                  <a:txBody>
                    <a:bodyPr/>
                    <a:lstStyle/>
                    <a:p>
                      <a:pPr algn="ctr"/>
                      <a:r>
                        <a:rPr lang="fr-CA" sz="1100" dirty="0"/>
                        <a:t>3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Propre/début de mousse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Dur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jaune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peu</a:t>
                      </a:r>
                      <a:endParaRPr lang="en-US" sz="11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987546"/>
                  </a:ext>
                </a:extLst>
              </a:tr>
              <a:tr h="269568">
                <a:tc>
                  <a:txBody>
                    <a:bodyPr/>
                    <a:lstStyle/>
                    <a:p>
                      <a:pPr algn="ctr"/>
                      <a:r>
                        <a:rPr lang="fr-CA" sz="1100" dirty="0"/>
                        <a:t>4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Sale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Dur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Jaune/brun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abondant</a:t>
                      </a:r>
                      <a:endParaRPr lang="en-US" sz="11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420114"/>
                  </a:ext>
                </a:extLst>
              </a:tr>
              <a:tr h="269568">
                <a:tc>
                  <a:txBody>
                    <a:bodyPr/>
                    <a:lstStyle/>
                    <a:p>
                      <a:pPr algn="ctr"/>
                      <a:r>
                        <a:rPr lang="fr-CA" sz="1100" dirty="0"/>
                        <a:t>5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Très sale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Dur ou mou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brun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100" b="1" dirty="0"/>
                        <a:t>abondant</a:t>
                      </a:r>
                      <a:endParaRPr lang="en-US" sz="11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785257"/>
                  </a:ext>
                </a:extLst>
              </a:tr>
            </a:tbl>
          </a:graphicData>
        </a:graphic>
      </p:graphicFrame>
      <p:grpSp>
        <p:nvGrpSpPr>
          <p:cNvPr id="89" name="Group 88">
            <a:extLst>
              <a:ext uri="{FF2B5EF4-FFF2-40B4-BE49-F238E27FC236}">
                <a16:creationId xmlns:a16="http://schemas.microsoft.com/office/drawing/2014/main" id="{B5DFE2A9-A373-E875-B8F3-9787468DE99A}"/>
              </a:ext>
            </a:extLst>
          </p:cNvPr>
          <p:cNvGrpSpPr/>
          <p:nvPr/>
        </p:nvGrpSpPr>
        <p:grpSpPr>
          <a:xfrm>
            <a:off x="2507591" y="341526"/>
            <a:ext cx="7955422" cy="4637189"/>
            <a:chOff x="2507591" y="341526"/>
            <a:chExt cx="7955422" cy="463718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45779E-C6C9-2C04-B605-25E4C9A8D1E9}"/>
                </a:ext>
              </a:extLst>
            </p:cNvPr>
            <p:cNvSpPr txBox="1"/>
            <p:nvPr/>
          </p:nvSpPr>
          <p:spPr>
            <a:xfrm>
              <a:off x="4643530" y="341526"/>
              <a:ext cx="1870392" cy="64633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/>
                <a:t>Couleur</a:t>
              </a:r>
            </a:p>
            <a:p>
              <a:pPr algn="ctr"/>
              <a:r>
                <a:rPr lang="fr-CA" b="1" dirty="0"/>
                <a:t>(surface ventrale)</a:t>
              </a:r>
              <a:endParaRPr lang="en-US" b="1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8E5EEC6-9755-0EE2-D976-FAAC8C8A3EC3}"/>
                </a:ext>
              </a:extLst>
            </p:cNvPr>
            <p:cNvCxnSpPr>
              <a:cxnSpLocks/>
              <a:stCxn id="8" idx="2"/>
              <a:endCxn id="17" idx="0"/>
            </p:cNvCxnSpPr>
            <p:nvPr/>
          </p:nvCxnSpPr>
          <p:spPr>
            <a:xfrm flipH="1">
              <a:off x="3962441" y="987857"/>
              <a:ext cx="1616285" cy="885753"/>
            </a:xfrm>
            <a:prstGeom prst="straightConnector1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D103D3F-5897-9C41-6E43-7F6D1EC4C9A7}"/>
                </a:ext>
              </a:extLst>
            </p:cNvPr>
            <p:cNvCxnSpPr>
              <a:cxnSpLocks/>
              <a:stCxn id="8" idx="2"/>
              <a:endCxn id="5" idx="0"/>
            </p:cNvCxnSpPr>
            <p:nvPr/>
          </p:nvCxnSpPr>
          <p:spPr>
            <a:xfrm>
              <a:off x="5578726" y="987857"/>
              <a:ext cx="1805399" cy="841830"/>
            </a:xfrm>
            <a:prstGeom prst="straightConnector1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797D1F-B1B8-3C9B-1F9C-39A5D52D2C32}"/>
                </a:ext>
              </a:extLst>
            </p:cNvPr>
            <p:cNvSpPr txBox="1"/>
            <p:nvPr/>
          </p:nvSpPr>
          <p:spPr>
            <a:xfrm>
              <a:off x="3562937" y="1126356"/>
              <a:ext cx="107746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b="1" i="1" dirty="0"/>
                <a:t>Blanc</a:t>
              </a:r>
              <a:r>
                <a:rPr lang="en-US" sz="1200" i="1" dirty="0"/>
                <a:t> </a:t>
              </a:r>
              <a:r>
                <a:rPr lang="en-US" sz="1200" i="1" dirty="0" err="1"/>
                <a:t>ou</a:t>
              </a:r>
              <a:r>
                <a:rPr lang="en-US" sz="1200" i="1" dirty="0"/>
                <a:t> très </a:t>
              </a:r>
            </a:p>
            <a:p>
              <a:pPr algn="r"/>
              <a:r>
                <a:rPr lang="en-US" sz="1200" i="1" dirty="0"/>
                <a:t>peu de jaune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9F30DFA-37A2-825E-828F-39D30F35FE94}"/>
                </a:ext>
              </a:extLst>
            </p:cNvPr>
            <p:cNvSpPr txBox="1"/>
            <p:nvPr/>
          </p:nvSpPr>
          <p:spPr>
            <a:xfrm>
              <a:off x="6467128" y="1101999"/>
              <a:ext cx="142935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CA" sz="1200" b="1" i="1" dirty="0"/>
                <a:t>Beige-jaune</a:t>
              </a:r>
              <a:r>
                <a:rPr lang="fr-CA" sz="1200" i="1" dirty="0"/>
                <a:t> ou </a:t>
              </a:r>
            </a:p>
            <a:p>
              <a:r>
                <a:rPr lang="fr-CA" sz="1200" i="1" dirty="0"/>
                <a:t>      </a:t>
              </a:r>
              <a:r>
                <a:rPr lang="fr-CA" sz="1200" b="1" i="1" dirty="0"/>
                <a:t>brun</a:t>
              </a:r>
              <a:r>
                <a:rPr lang="fr-CA" sz="1200" i="1" dirty="0"/>
                <a:t> partout</a:t>
              </a:r>
              <a:endParaRPr lang="en-US" sz="1200" i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5C87289-7823-F7E1-9794-7609D463882D}"/>
                </a:ext>
              </a:extLst>
            </p:cNvPr>
            <p:cNvSpPr txBox="1"/>
            <p:nvPr/>
          </p:nvSpPr>
          <p:spPr>
            <a:xfrm>
              <a:off x="3338426" y="1873610"/>
              <a:ext cx="1248030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/>
                <a:t>Dureté</a:t>
              </a:r>
              <a:endParaRPr lang="en-US" b="1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524B05A-CBB6-DFF9-86E7-C1A19D9A97AB}"/>
                </a:ext>
              </a:extLst>
            </p:cNvPr>
            <p:cNvCxnSpPr>
              <a:cxnSpLocks/>
              <a:stCxn id="17" idx="2"/>
              <a:endCxn id="3" idx="0"/>
            </p:cNvCxnSpPr>
            <p:nvPr/>
          </p:nvCxnSpPr>
          <p:spPr>
            <a:xfrm flipH="1">
              <a:off x="3066155" y="2242942"/>
              <a:ext cx="896286" cy="825219"/>
            </a:xfrm>
            <a:prstGeom prst="straightConnector1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914F632-83E8-2314-0293-0CD7E1B59742}"/>
                </a:ext>
              </a:extLst>
            </p:cNvPr>
            <p:cNvSpPr txBox="1"/>
            <p:nvPr/>
          </p:nvSpPr>
          <p:spPr>
            <a:xfrm>
              <a:off x="2507591" y="2447486"/>
              <a:ext cx="101501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i="1" dirty="0" err="1"/>
                <a:t>Pince</a:t>
              </a:r>
              <a:r>
                <a:rPr lang="en-US" sz="1200" i="1" dirty="0"/>
                <a:t> </a:t>
              </a:r>
              <a:r>
                <a:rPr lang="en-US" sz="1200" b="1" i="1" dirty="0"/>
                <a:t>molle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0F286F1-EF08-15B5-C503-D6FA552796DC}"/>
                </a:ext>
              </a:extLst>
            </p:cNvPr>
            <p:cNvCxnSpPr>
              <a:cxnSpLocks/>
              <a:stCxn id="17" idx="2"/>
              <a:endCxn id="4" idx="0"/>
            </p:cNvCxnSpPr>
            <p:nvPr/>
          </p:nvCxnSpPr>
          <p:spPr>
            <a:xfrm>
              <a:off x="3962441" y="2242942"/>
              <a:ext cx="895523" cy="833613"/>
            </a:xfrm>
            <a:prstGeom prst="straightConnector1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0C6B205-9FC9-06B0-C764-F7C14218ED06}"/>
                </a:ext>
              </a:extLst>
            </p:cNvPr>
            <p:cNvSpPr txBox="1"/>
            <p:nvPr/>
          </p:nvSpPr>
          <p:spPr>
            <a:xfrm>
              <a:off x="4333719" y="2346871"/>
              <a:ext cx="129392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 err="1"/>
                <a:t>Pince</a:t>
              </a:r>
              <a:r>
                <a:rPr lang="en-US" sz="1200" i="1" dirty="0"/>
                <a:t> </a:t>
              </a:r>
              <a:r>
                <a:rPr lang="en-US" sz="1200" b="1" i="1" dirty="0"/>
                <a:t>dure</a:t>
              </a:r>
              <a:r>
                <a:rPr lang="en-US" sz="1200" i="1" dirty="0"/>
                <a:t> </a:t>
              </a:r>
            </a:p>
            <a:p>
              <a:r>
                <a:rPr lang="en-US" sz="1200" i="1" dirty="0"/>
                <a:t>    </a:t>
              </a:r>
              <a:r>
                <a:rPr lang="en-US" sz="1200" i="1" dirty="0" err="1"/>
                <a:t>mais</a:t>
              </a:r>
              <a:r>
                <a:rPr lang="en-US" sz="1200" i="1" dirty="0"/>
                <a:t> </a:t>
              </a:r>
              <a:r>
                <a:rPr lang="en-US" sz="1200" b="1" i="1" dirty="0" err="1"/>
                <a:t>cassable</a:t>
              </a:r>
              <a:endParaRPr lang="en-US" sz="1200" b="1" i="1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259639A-4A90-38D1-6451-E32FB165284B}"/>
                </a:ext>
              </a:extLst>
            </p:cNvPr>
            <p:cNvSpPr txBox="1"/>
            <p:nvPr/>
          </p:nvSpPr>
          <p:spPr>
            <a:xfrm>
              <a:off x="2722069" y="3068161"/>
              <a:ext cx="688172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400" b="1" dirty="0"/>
                <a:t>1</a:t>
              </a:r>
              <a:endParaRPr lang="en-US" sz="24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70BDA20-0DD8-2760-1AFC-9D16C2CC5DDB}"/>
                </a:ext>
              </a:extLst>
            </p:cNvPr>
            <p:cNvSpPr txBox="1"/>
            <p:nvPr/>
          </p:nvSpPr>
          <p:spPr>
            <a:xfrm>
              <a:off x="4513878" y="3076555"/>
              <a:ext cx="688172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400" b="1" dirty="0"/>
                <a:t>2</a:t>
              </a:r>
              <a:endParaRPr lang="en-US" sz="2400" b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E162109-72C7-6EC4-96A7-5D7FE22C8812}"/>
                </a:ext>
              </a:extLst>
            </p:cNvPr>
            <p:cNvSpPr txBox="1"/>
            <p:nvPr/>
          </p:nvSpPr>
          <p:spPr>
            <a:xfrm>
              <a:off x="6760110" y="1829687"/>
              <a:ext cx="1248030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/>
                <a:t>Propreté</a:t>
              </a:r>
              <a:endParaRPr lang="en-US" b="1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985C685-106E-9FE9-B042-3A7140D7E835}"/>
                </a:ext>
              </a:extLst>
            </p:cNvPr>
            <p:cNvCxnSpPr>
              <a:cxnSpLocks/>
              <a:stCxn id="5" idx="2"/>
              <a:endCxn id="39" idx="0"/>
            </p:cNvCxnSpPr>
            <p:nvPr/>
          </p:nvCxnSpPr>
          <p:spPr>
            <a:xfrm flipH="1">
              <a:off x="6523166" y="2199019"/>
              <a:ext cx="860959" cy="881087"/>
            </a:xfrm>
            <a:prstGeom prst="straightConnector1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67BA063-3138-C891-53AD-CE37E6DD20BB}"/>
                </a:ext>
              </a:extLst>
            </p:cNvPr>
            <p:cNvSpPr txBox="1"/>
            <p:nvPr/>
          </p:nvSpPr>
          <p:spPr>
            <a:xfrm>
              <a:off x="5841839" y="2232058"/>
              <a:ext cx="91827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b="1" i="1" dirty="0"/>
                <a:t>Propre</a:t>
              </a:r>
              <a:r>
                <a:rPr lang="en-US" sz="1200" i="1" dirty="0"/>
                <a:t> </a:t>
              </a:r>
              <a:r>
                <a:rPr lang="en-US" sz="1200" i="1" dirty="0" err="1"/>
                <a:t>ou</a:t>
              </a:r>
              <a:r>
                <a:rPr lang="en-US" sz="1200" i="1" dirty="0"/>
                <a:t> </a:t>
              </a:r>
            </a:p>
            <a:p>
              <a:pPr algn="r"/>
              <a:r>
                <a:rPr lang="en-US" sz="1200" i="1" dirty="0" err="1"/>
                <a:t>légèrement</a:t>
              </a:r>
              <a:r>
                <a:rPr lang="en-US" sz="1200" i="1" dirty="0"/>
                <a:t> </a:t>
              </a:r>
              <a:r>
                <a:rPr lang="en-US" sz="1200" i="1" dirty="0" err="1"/>
                <a:t>mousseux</a:t>
              </a:r>
              <a:endParaRPr lang="en-US" sz="1200" i="1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058BDD5-8D0E-AF00-0005-B8251277755F}"/>
                </a:ext>
              </a:extLst>
            </p:cNvPr>
            <p:cNvSpPr txBox="1"/>
            <p:nvPr/>
          </p:nvSpPr>
          <p:spPr>
            <a:xfrm>
              <a:off x="6179080" y="3080106"/>
              <a:ext cx="688172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400" b="1" dirty="0"/>
                <a:t>3</a:t>
              </a:r>
              <a:endParaRPr lang="en-US" sz="2400" b="1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9ACC6C8-7870-4BF9-BEB6-F4186394070F}"/>
                </a:ext>
              </a:extLst>
            </p:cNvPr>
            <p:cNvCxnSpPr>
              <a:cxnSpLocks/>
              <a:stCxn id="5" idx="2"/>
              <a:endCxn id="46" idx="0"/>
            </p:cNvCxnSpPr>
            <p:nvPr/>
          </p:nvCxnSpPr>
          <p:spPr>
            <a:xfrm>
              <a:off x="7384125" y="2199019"/>
              <a:ext cx="949328" cy="946215"/>
            </a:xfrm>
            <a:prstGeom prst="straightConnector1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DAB9D47-8192-C049-DEE4-1EF69C4089B4}"/>
                </a:ext>
              </a:extLst>
            </p:cNvPr>
            <p:cNvSpPr txBox="1"/>
            <p:nvPr/>
          </p:nvSpPr>
          <p:spPr>
            <a:xfrm>
              <a:off x="7856089" y="2389198"/>
              <a:ext cx="133832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i="1" dirty="0"/>
                <a:t>Sale</a:t>
              </a:r>
              <a:r>
                <a:rPr lang="en-US" sz="1200" i="1" dirty="0"/>
                <a:t> et </a:t>
              </a:r>
            </a:p>
            <a:p>
              <a:r>
                <a:rPr lang="en-US" sz="1200" i="1" dirty="0"/>
                <a:t>     </a:t>
              </a:r>
              <a:r>
                <a:rPr lang="en-US" sz="1200" b="1" i="1" dirty="0" err="1"/>
                <a:t>mousseux</a:t>
              </a:r>
              <a:endParaRPr lang="en-US" sz="1200" b="1" i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3907F51-8121-EF91-ACFE-8006A972F95E}"/>
                </a:ext>
              </a:extLst>
            </p:cNvPr>
            <p:cNvSpPr txBox="1"/>
            <p:nvPr/>
          </p:nvSpPr>
          <p:spPr>
            <a:xfrm>
              <a:off x="7472493" y="3145234"/>
              <a:ext cx="172191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/>
                <a:t>Dureté / santé</a:t>
              </a:r>
              <a:endParaRPr lang="en-US" b="1" dirty="0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69A54DB-D8FF-B856-29E9-923D28059768}"/>
                </a:ext>
              </a:extLst>
            </p:cNvPr>
            <p:cNvCxnSpPr>
              <a:cxnSpLocks/>
              <a:stCxn id="46" idx="2"/>
              <a:endCxn id="54" idx="0"/>
            </p:cNvCxnSpPr>
            <p:nvPr/>
          </p:nvCxnSpPr>
          <p:spPr>
            <a:xfrm flipH="1">
              <a:off x="7472493" y="3514566"/>
              <a:ext cx="860960" cy="1002484"/>
            </a:xfrm>
            <a:prstGeom prst="straightConnector1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CE64478-88A3-6D5F-E855-F7256351FE0D}"/>
                </a:ext>
              </a:extLst>
            </p:cNvPr>
            <p:cNvSpPr txBox="1"/>
            <p:nvPr/>
          </p:nvSpPr>
          <p:spPr>
            <a:xfrm>
              <a:off x="8704057" y="3639864"/>
              <a:ext cx="175895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 err="1"/>
                <a:t>Pince</a:t>
              </a:r>
              <a:r>
                <a:rPr lang="en-US" sz="1200" i="1" dirty="0"/>
                <a:t> </a:t>
              </a:r>
              <a:r>
                <a:rPr lang="en-US" sz="1200" b="1" i="1" dirty="0" err="1"/>
                <a:t>redevenue</a:t>
              </a:r>
              <a:r>
                <a:rPr lang="en-US" sz="1200" b="1" i="1" dirty="0"/>
                <a:t> molle </a:t>
              </a:r>
              <a:r>
                <a:rPr lang="en-US" sz="1200" i="1" dirty="0"/>
                <a:t>/ </a:t>
              </a:r>
            </a:p>
            <a:p>
              <a:r>
                <a:rPr lang="en-US" sz="1200" i="1" dirty="0"/>
                <a:t>     Jointures </a:t>
              </a:r>
              <a:r>
                <a:rPr lang="en-US" sz="1200" b="1" i="1" dirty="0" err="1"/>
                <a:t>noircies</a:t>
              </a:r>
              <a:r>
                <a:rPr lang="en-US" sz="1200" i="1" dirty="0"/>
                <a:t> / </a:t>
              </a:r>
            </a:p>
            <a:p>
              <a:r>
                <a:rPr lang="en-US" sz="1200" i="1" dirty="0"/>
                <a:t>          </a:t>
              </a:r>
              <a:r>
                <a:rPr lang="en-US" sz="1200" i="1" dirty="0" err="1"/>
                <a:t>Crabe</a:t>
              </a:r>
              <a:r>
                <a:rPr lang="en-US" sz="1200" i="1" dirty="0"/>
                <a:t> </a:t>
              </a:r>
              <a:r>
                <a:rPr lang="en-US" sz="1200" b="1" i="1" dirty="0" err="1"/>
                <a:t>magané</a:t>
              </a:r>
              <a:endParaRPr lang="en-US" sz="1200" b="1" i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420FC23-81E2-61B9-5F99-61574E8721D6}"/>
                </a:ext>
              </a:extLst>
            </p:cNvPr>
            <p:cNvSpPr txBox="1"/>
            <p:nvPr/>
          </p:nvSpPr>
          <p:spPr>
            <a:xfrm>
              <a:off x="6328083" y="3730360"/>
              <a:ext cx="142786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200" i="1" dirty="0" err="1"/>
                <a:t>Pince</a:t>
              </a:r>
              <a:r>
                <a:rPr lang="en-US" sz="1200" i="1" dirty="0"/>
                <a:t> </a:t>
              </a:r>
              <a:r>
                <a:rPr lang="en-US" sz="1200" b="1" i="1" dirty="0"/>
                <a:t>dure</a:t>
              </a:r>
              <a:r>
                <a:rPr lang="en-US" sz="1200" i="1" dirty="0"/>
                <a:t> /</a:t>
              </a:r>
            </a:p>
            <a:p>
              <a:pPr algn="r"/>
              <a:r>
                <a:rPr lang="en-US" sz="1200" i="1" dirty="0" err="1"/>
                <a:t>crabe</a:t>
              </a:r>
              <a:r>
                <a:rPr lang="en-US" sz="1200" i="1" dirty="0"/>
                <a:t> </a:t>
              </a:r>
              <a:r>
                <a:rPr lang="en-US" sz="1200" b="1" i="1" dirty="0" err="1"/>
                <a:t>en</a:t>
              </a:r>
              <a:r>
                <a:rPr lang="en-US" sz="1200" b="1" i="1" dirty="0"/>
                <a:t> </a:t>
              </a:r>
              <a:r>
                <a:rPr lang="en-US" sz="1200" b="1" i="1" dirty="0" err="1"/>
                <a:t>santé</a:t>
              </a:r>
              <a:endParaRPr lang="en-US" sz="1200" b="1" i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D33ED4C-86A3-B65A-3AA7-689D92038163}"/>
                </a:ext>
              </a:extLst>
            </p:cNvPr>
            <p:cNvSpPr txBox="1"/>
            <p:nvPr/>
          </p:nvSpPr>
          <p:spPr>
            <a:xfrm>
              <a:off x="7128407" y="4517050"/>
              <a:ext cx="688172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400" b="1" dirty="0"/>
                <a:t>4</a:t>
              </a:r>
              <a:endParaRPr lang="en-US" sz="24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06C1637-3F31-F972-F9BA-8232816AA43D}"/>
                </a:ext>
              </a:extLst>
            </p:cNvPr>
            <p:cNvSpPr txBox="1"/>
            <p:nvPr/>
          </p:nvSpPr>
          <p:spPr>
            <a:xfrm>
              <a:off x="8961828" y="4517049"/>
              <a:ext cx="688172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400" b="1" dirty="0"/>
                <a:t>5</a:t>
              </a:r>
              <a:endParaRPr lang="en-US" sz="2400" b="1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BB81E84-4C97-5103-8CA8-A245247604A1}"/>
                </a:ext>
              </a:extLst>
            </p:cNvPr>
            <p:cNvCxnSpPr>
              <a:cxnSpLocks/>
              <a:stCxn id="46" idx="2"/>
              <a:endCxn id="56" idx="0"/>
            </p:cNvCxnSpPr>
            <p:nvPr/>
          </p:nvCxnSpPr>
          <p:spPr>
            <a:xfrm>
              <a:off x="8333453" y="3514566"/>
              <a:ext cx="972461" cy="1002483"/>
            </a:xfrm>
            <a:prstGeom prst="straightConnector1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44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1355</TotalTime>
  <Words>261</Words>
  <Application>Microsoft Office PowerPoint</Application>
  <PresentationFormat>Widescreen</PresentationFormat>
  <Paragraphs>120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DFO MPO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Surette, Tobie (DFO/MPO)</dc:creator>
  <cp:lastModifiedBy>Surette, Tobie (DFO/MPO)</cp:lastModifiedBy>
  <cp:revision>4</cp:revision>
  <cp:lastPrinted>2025-03-11T13:15:11Z</cp:lastPrinted>
  <dcterms:created xsi:type="dcterms:W3CDTF">2025-03-10T17:53:02Z</dcterms:created>
  <dcterms:modified xsi:type="dcterms:W3CDTF">2025-03-11T16:28:22Z</dcterms:modified>
</cp:coreProperties>
</file>